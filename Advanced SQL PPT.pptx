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  <p:sldId id="265" r:id="rId9"/>
    <p:sldId id="264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6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6071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548640" y="1828800"/>
            <a:ext cx="109728" cy="1280160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68680" y="17373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SQL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560320"/>
            <a:ext cx="7315200" cy="450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Querying, Filtering, Grouping, Joining and Views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85667"/>
            <a:ext cx="3749040" cy="4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sz="20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Role of DISTINCT in SQL</a:t>
            </a:r>
            <a:endParaRPr lang="en-US" sz="20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194561"/>
            <a:ext cx="3749040" cy="724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Eliminates duplicates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Works with aggregates</a:t>
            </a:r>
          </a:p>
        </p:txBody>
      </p:sp>
      <p:sp>
        <p:nvSpPr>
          <p:cNvPr id="7" name="Code panel"/>
          <p:cNvSpPr/>
          <p:nvPr/>
        </p:nvSpPr>
        <p:spPr>
          <a:xfrm>
            <a:off x="4564966" y="1589647"/>
            <a:ext cx="4206240" cy="1934308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4116" y="1737360"/>
            <a:ext cx="3699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DISTINCT department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employee;</a:t>
            </a: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</a:endParaRP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SELECT COUNT(DISTINCT city) AS </a:t>
            </a:r>
            <a:r>
              <a:rPr lang="en-US" sz="1400" dirty="0" err="1">
                <a:solidFill>
                  <a:schemeClr val="bg1"/>
                </a:solidFill>
              </a:rPr>
              <a:t>unique_cities</a:t>
            </a:r>
            <a:endParaRPr lang="en-US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FROM customers;</a:t>
            </a:r>
          </a:p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Clause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374904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Role of WHERE Clause</a:t>
            </a:r>
            <a:endParaRPr lang="en-US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682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Filters rows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conditions with AND, OR, NOT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698608" y="1188720"/>
            <a:ext cx="3988191" cy="2578608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88523" y="1364567"/>
            <a:ext cx="3713870" cy="227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FROM students</a:t>
            </a:r>
          </a:p>
          <a:p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city = 'Kolkata';</a:t>
            </a: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salary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salary &gt; 50000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department = 'IT';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Operator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7194"/>
            <a:ext cx="3749040" cy="633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text against a pattern.</a:t>
            </a:r>
            <a:endParaRPr lang="en-US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93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matches any number of characters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 matches exactly one character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sensitivity depends on the database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287194"/>
            <a:ext cx="4206240" cy="2461846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46304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name LIKE 'A%’;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FROM employees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WHERE name LIKE '____n';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 And GROUP BY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08294"/>
            <a:ext cx="3749040" cy="611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 Compute a single value from a set of rows</a:t>
            </a:r>
            <a:r>
              <a:rPr lang="en-US" sz="1600" b="1" dirty="0">
                <a:solidFill>
                  <a:srgbClr val="5CC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1"/>
            <a:ext cx="3749040" cy="611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GROUP BY, they return one row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308294"/>
            <a:ext cx="4206240" cy="2764303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645920"/>
            <a:ext cx="3840480" cy="2187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city, COUNT(*) AS </a:t>
            </a:r>
            <a:r>
              <a:rPr lang="en-US" sz="13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total_emp</a:t>
            </a: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 group by city;</a:t>
            </a: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</a:endParaRP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>
                <a:solidFill>
                  <a:schemeClr val="bg1"/>
                </a:solidFill>
              </a:rPr>
              <a:t>SELECT SUM(salary) AS </a:t>
            </a:r>
            <a:r>
              <a:rPr lang="en-US" sz="1300" dirty="0" err="1">
                <a:solidFill>
                  <a:schemeClr val="bg1"/>
                </a:solidFill>
              </a:rPr>
              <a:t>total_salary</a:t>
            </a:r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>
                <a:solidFill>
                  <a:schemeClr val="bg1"/>
                </a:solidFill>
              </a:rPr>
              <a:t>FROM employees</a:t>
            </a:r>
          </a:p>
          <a:p>
            <a:r>
              <a:rPr lang="en-US" sz="1300" dirty="0">
                <a:solidFill>
                  <a:schemeClr val="bg1"/>
                </a:solidFill>
              </a:rPr>
              <a:t>WHERE department = 'IT';</a:t>
            </a:r>
          </a:p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and LIMIT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result and restrict how many rows return.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1139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(default) or DESC; multiple sort keys allowed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n returns the first n rows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give Top-N queries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498209"/>
            <a:ext cx="4206240" cy="1723292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547446"/>
            <a:ext cx="3840480" cy="1603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salary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salary DESC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5;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Clause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7194"/>
            <a:ext cx="3749040" cy="485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groups after aggregation.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101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filters groups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use aggregate functions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written after GROUP BY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406769"/>
            <a:ext cx="4206240" cy="2025748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652954"/>
            <a:ext cx="3840480" cy="154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department,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AVG(salary) AS avg_sal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department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HAVING AVG(salary) &gt; 60000;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stored query that behaves like a virtual table.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95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Simplifies complex queries and reuses logic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Restricts access to specific columns or rows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no data; reflects current table data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097280"/>
            <a:ext cx="4206240" cy="2215662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0" cy="258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VIEW high_earners AS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salary, department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salary &gt; 70000;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high_earners;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rows from two or more tables on a related column.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984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JOIN: only matching rows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JOIN: keep all rows from one side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JOIN: keep all rows from both sides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097280"/>
            <a:ext cx="4206240" cy="3038622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0" cy="2785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e.name, d.dept_name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 e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departments d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ON e.dept_id = </a:t>
            </a:r>
            <a:r>
              <a:rPr lang="en-US" sz="13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d.dept_id</a:t>
            </a: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  <a:latin typeface="Consolas" pitchFamily="34" charset="0"/>
            </a:endParaRP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  <a:latin typeface="Consolas" pitchFamily="34" charset="0"/>
            </a:endParaRP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  <a:latin typeface="Consolas" pitchFamily="34" charset="0"/>
            </a:endParaRPr>
          </a:p>
          <a:p>
            <a:r>
              <a:rPr lang="en-US" sz="1300" dirty="0">
                <a:solidFill>
                  <a:schemeClr val="bg1"/>
                </a:solidFill>
              </a:rPr>
              <a:t>SELECT </a:t>
            </a:r>
            <a:r>
              <a:rPr lang="en-US" sz="1300" dirty="0" err="1">
                <a:solidFill>
                  <a:schemeClr val="bg1"/>
                </a:solidFill>
              </a:rPr>
              <a:t>e.emp_name</a:t>
            </a:r>
            <a:r>
              <a:rPr lang="en-US" sz="1300" dirty="0">
                <a:solidFill>
                  <a:schemeClr val="bg1"/>
                </a:solidFill>
              </a:rPr>
              <a:t>, </a:t>
            </a:r>
            <a:r>
              <a:rPr lang="en-US" sz="1300" dirty="0" err="1">
                <a:solidFill>
                  <a:schemeClr val="bg1"/>
                </a:solidFill>
              </a:rPr>
              <a:t>d.dept_name</a:t>
            </a:r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>
                <a:solidFill>
                  <a:schemeClr val="bg1"/>
                </a:solidFill>
              </a:rPr>
              <a:t>FROM employees e</a:t>
            </a:r>
          </a:p>
          <a:p>
            <a:r>
              <a:rPr lang="en-US" sz="1300" dirty="0">
                <a:solidFill>
                  <a:schemeClr val="bg1"/>
                </a:solidFill>
              </a:rPr>
              <a:t>LEFT JOIN departments d</a:t>
            </a:r>
          </a:p>
          <a:p>
            <a:r>
              <a:rPr lang="en-US" sz="1300" dirty="0">
                <a:solidFill>
                  <a:schemeClr val="bg1"/>
                </a:solidFill>
              </a:rPr>
              <a:t>ON </a:t>
            </a:r>
            <a:r>
              <a:rPr lang="en-US" sz="1300" dirty="0" err="1">
                <a:solidFill>
                  <a:schemeClr val="bg1"/>
                </a:solidFill>
              </a:rPr>
              <a:t>e.dept_id</a:t>
            </a:r>
            <a:r>
              <a:rPr lang="en-US" sz="1300" dirty="0">
                <a:solidFill>
                  <a:schemeClr val="bg1"/>
                </a:solidFill>
              </a:rPr>
              <a:t> = </a:t>
            </a:r>
            <a:r>
              <a:rPr lang="en-US" sz="1300" dirty="0" err="1">
                <a:solidFill>
                  <a:schemeClr val="bg1"/>
                </a:solidFill>
              </a:rPr>
              <a:t>d.dept_id</a:t>
            </a:r>
            <a:r>
              <a:rPr lang="en-US" sz="1300" dirty="0">
                <a:solidFill>
                  <a:schemeClr val="bg1"/>
                </a:solidFill>
              </a:rPr>
              <a:t>;</a:t>
            </a: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Query and Execution Order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clauses working together in one statement.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1211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Order: FROM, JOIN, WHERE, GROUP BY, HAVING, SELECT, ORDER BY, LIMIT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feeds the next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this order prevents common errors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097280"/>
            <a:ext cx="4206240" cy="3003452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d.dept_name,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COUNT(*)    AS headcount,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AVG(e.salary) AS avg_sal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 e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departments d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e.dept_id = d.dept_id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e.name LIKE '%a%'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d.dept_name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HAVING COUNT(*) &gt; 2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avg_sal DESC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3;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</TotalTime>
  <Words>581</Words>
  <Application>Microsoft Office PowerPoint</Application>
  <PresentationFormat>On-screen Show (16:9)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SQL</dc:title>
  <dc:subject>PptxGenJS Presentation</dc:subject>
  <dc:creator>PptxGenJS</dc:creator>
  <cp:lastModifiedBy>JAGANNATH MANI</cp:lastModifiedBy>
  <cp:revision>12</cp:revision>
  <dcterms:created xsi:type="dcterms:W3CDTF">2026-10-04T09:44:46Z</dcterms:created>
  <dcterms:modified xsi:type="dcterms:W3CDTF">2026-10-06T18:11:58Z</dcterms:modified>
</cp:coreProperties>
</file>